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Atkinson Hyperlegible" panose="020B0604020202020204" charset="0"/>
      <p:regular r:id="rId16"/>
    </p:embeddedFont>
    <p:embeddedFont>
      <p:font typeface="Atkinson Hyperlegible Bold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Archivo Black" panose="020B0604020202020204" charset="0"/>
      <p:regular r:id="rId22"/>
    </p:embeddedFont>
    <p:embeddedFont>
      <p:font typeface="IBM Plex Mono SemiBold" panose="020B0604020202020204" charset="0"/>
      <p:regular r:id="rId23"/>
    </p:embeddedFont>
    <p:embeddedFont>
      <p:font typeface="Archivo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57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is about slowing the moment down. Scammers want a fast reaction before you have time to check what is happening.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four moves from left to right. One signal may be explainable; several together should make you pause and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Phishing is not one visual style. It borrows the clothes of services and people you already trust, then asks for a small action that gives the scammer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examples aloud. Notice what they have in common: each one narrows your choices and tries to keep you from asking someone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and polished wording are easy to copy. The sender details and the route you use to verify are harder for a scammer to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legitimate organization may offer payment choices. A stranger who insists on one unusual method is trying to control the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stories sound different because they target different hopes and worries. Ask what remains constant: the request arrives with pressure and a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the three words as a response. Stop the contact, check somewhere independent, and choose only after the request makes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steps reduce the damage a scam can do. They are simple habits, and they work best when you set them up before a stressful message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spend time hiding what happened. Stop the contact, secure exposed accounts, call the real provider through an official route, and keep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75" y="914400"/>
            <a:ext cx="6603835" cy="4597400"/>
          </a:xfrm>
          <a:prstGeom prst="rect">
            <a:avLst/>
          </a:prstGeom>
          <a:solidFill>
            <a:srgbClr val="F4F0E6"/>
          </a:solidFill>
          <a:ln w="25399">
            <a:solidFill>
              <a:srgbClr val="222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2971" y="1320800"/>
            <a:ext cx="629904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ONLINE SAFETY · AWARENESS GUIDE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42971" y="1739900"/>
            <a:ext cx="5689458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800" kern="100" spc="-72" dirty="0">
                <a:solidFill>
                  <a:srgbClr val="22282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AWARENESS OF ONLINE SCAMS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2971" y="3039269"/>
            <a:ext cx="5689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Recognize the patterns that turn an ordinary message, call, or website into a costly mistake.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8285018" y="5246255"/>
            <a:ext cx="3906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     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– 13</a:t>
            </a:r>
          </a:p>
          <a:p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Siddharth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Rao  -   24K81A05H8</a:t>
            </a:r>
          </a:p>
          <a:p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Samvidha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-    24K81A05h9</a:t>
            </a:r>
          </a:p>
          <a:p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Naga </a:t>
            </a:r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Jyothi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   24K81A05J0</a:t>
            </a:r>
          </a:p>
          <a:p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Sreeja</a:t>
            </a:r>
            <a:r>
              <a:rPr lang="en-IN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    24K81A05J2</a:t>
            </a:r>
            <a:endParaRPr lang="en-IN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THE PATTERN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THE FOUR MOVES BEHIND MOST SCAMS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189" y="1254125"/>
            <a:ext cx="1173450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Most scams follow a familiar script.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1723330"/>
            <a:ext cx="2590735" cy="3852664"/>
          </a:xfrm>
          <a:prstGeom prst="roundRect">
            <a:avLst>
              <a:gd name="adj" fmla="val 1250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82" y="1977330"/>
            <a:ext cx="84710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E6FB8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1182" y="2279551"/>
            <a:ext cx="2082748" cy="1905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28081"/>
            <a:ext cx="208274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Impersonate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1182" y="2863056"/>
            <a:ext cx="208274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They pretend to be someone you know.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52716" y="1723330"/>
            <a:ext cx="2590735" cy="3852664"/>
          </a:xfrm>
          <a:prstGeom prst="roundRect">
            <a:avLst>
              <a:gd name="adj" fmla="val 1250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6710" y="1977330"/>
            <a:ext cx="87687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E6FB8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06710" y="2279551"/>
            <a:ext cx="2082748" cy="1905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13" name="Text 11"/>
          <p:cNvSpPr/>
          <p:nvPr/>
        </p:nvSpPr>
        <p:spPr>
          <a:xfrm>
            <a:off x="3606710" y="2428081"/>
            <a:ext cx="208274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Trigger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06710" y="2863056"/>
            <a:ext cx="2082748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They create a problem or promise a prize.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48244" y="1723330"/>
            <a:ext cx="2590735" cy="3852664"/>
          </a:xfrm>
          <a:prstGeom prst="roundRect">
            <a:avLst>
              <a:gd name="adj" fmla="val 1250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2237" y="1977330"/>
            <a:ext cx="8810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E6FB8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02237" y="2279551"/>
            <a:ext cx="2082748" cy="1905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18" name="Text 16"/>
          <p:cNvSpPr/>
          <p:nvPr/>
        </p:nvSpPr>
        <p:spPr>
          <a:xfrm>
            <a:off x="6502237" y="2428081"/>
            <a:ext cx="208274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Rush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02237" y="2863056"/>
            <a:ext cx="208274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They pressure you to act immediately.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3771" y="1723330"/>
            <a:ext cx="2590735" cy="3852664"/>
          </a:xfrm>
          <a:prstGeom prst="roundRect">
            <a:avLst>
              <a:gd name="adj" fmla="val 1250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7765" y="1977330"/>
            <a:ext cx="88550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E6FB8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97765" y="2279551"/>
            <a:ext cx="2082748" cy="1905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23" name="Text 21"/>
          <p:cNvSpPr/>
          <p:nvPr/>
        </p:nvSpPr>
        <p:spPr>
          <a:xfrm>
            <a:off x="9397765" y="2428081"/>
            <a:ext cx="208274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Demand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97765" y="2863056"/>
            <a:ext cx="208274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They want a specific payment or secret.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7189" y="5753795"/>
            <a:ext cx="11277318" cy="647005"/>
          </a:xfrm>
          <a:prstGeom prst="rect">
            <a:avLst/>
          </a:prstGeom>
          <a:solidFill>
            <a:srgbClr val="F6C9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6582" y="5931595"/>
            <a:ext cx="1099792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Remember:</a:t>
            </a:r>
            <a:r>
              <a:rPr lang="en-US" sz="17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These are core scam signals identified by the FTC.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1923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LOOKS REAL · ISN’T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57351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PHISHING WEARS FAMILIAR CLOTHES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189" y="1584325"/>
            <a:ext cx="5735196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350"/>
              </a:spcAft>
              <a:buNone/>
            </a:pPr>
            <a:r>
              <a:rPr lang="en-US" sz="20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 fake message may look like it comes from your bank, employer, delivery service, or a friend.</a:t>
            </a:r>
            <a:endParaRPr lang="en-US" sz="2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It wants a click, login, attachment, or reply.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2968625"/>
            <a:ext cx="5735196" cy="938411"/>
          </a:xfrm>
          <a:prstGeom prst="rect">
            <a:avLst/>
          </a:prstGeom>
          <a:solidFill>
            <a:srgbClr val="F6C945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3146425"/>
            <a:ext cx="5227209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Phishing can arrive by</a:t>
            </a:r>
            <a:r>
              <a:rPr lang="en-US" sz="17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email, text, social message, or phone call.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F4F0E6"/>
          </a:solidFill>
          <a:ln w="19050">
            <a:solidFill>
              <a:srgbClr val="2228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THE PRESSURE TEST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URGENCY IS THE TRAP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189" y="1431925"/>
            <a:ext cx="377816" cy="377825"/>
          </a:xfrm>
          <a:prstGeom prst="ellipse">
            <a:avLst/>
          </a:prstGeom>
          <a:solidFill>
            <a:srgbClr val="1E6FB8"/>
          </a:solidFill>
          <a:ln/>
        </p:spPr>
      </p:sp>
      <p:sp>
        <p:nvSpPr>
          <p:cNvPr id="5" name="Text 3"/>
          <p:cNvSpPr/>
          <p:nvPr/>
        </p:nvSpPr>
        <p:spPr>
          <a:xfrm>
            <a:off x="527334" y="1512888"/>
            <a:ext cx="84710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400" y="1462088"/>
            <a:ext cx="10747106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“Your account will be closed today.”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189" y="2510433"/>
            <a:ext cx="377816" cy="377825"/>
          </a:xfrm>
          <a:prstGeom prst="ellipse">
            <a:avLst/>
          </a:prstGeom>
          <a:solidFill>
            <a:srgbClr val="1E6FB8"/>
          </a:solidFill>
          <a:ln/>
        </p:spPr>
      </p:sp>
      <p:sp>
        <p:nvSpPr>
          <p:cNvPr id="8" name="Text 6"/>
          <p:cNvSpPr/>
          <p:nvPr/>
        </p:nvSpPr>
        <p:spPr>
          <a:xfrm>
            <a:off x="512452" y="2591395"/>
            <a:ext cx="87687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400" y="2540595"/>
            <a:ext cx="10747106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“You must pay before the deadline.”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189" y="3588941"/>
            <a:ext cx="379403" cy="379413"/>
          </a:xfrm>
          <a:prstGeom prst="ellipse">
            <a:avLst/>
          </a:prstGeom>
          <a:solidFill>
            <a:srgbClr val="1E6FB8"/>
          </a:solidFill>
          <a:ln/>
        </p:spPr>
      </p:sp>
      <p:sp>
        <p:nvSpPr>
          <p:cNvPr id="11" name="Text 9"/>
          <p:cNvSpPr/>
          <p:nvPr/>
        </p:nvSpPr>
        <p:spPr>
          <a:xfrm>
            <a:off x="511162" y="3670697"/>
            <a:ext cx="8810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8988" y="3619897"/>
            <a:ext cx="10745519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“Don’t hang up while we fix this.”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189" y="4669135"/>
            <a:ext cx="383868" cy="383877"/>
          </a:xfrm>
          <a:prstGeom prst="ellipse">
            <a:avLst/>
          </a:prstGeom>
          <a:solidFill>
            <a:srgbClr val="1E6FB8"/>
          </a:solidFill>
          <a:ln/>
        </p:spPr>
      </p:sp>
      <p:sp>
        <p:nvSpPr>
          <p:cNvPr id="14" name="Text 12"/>
          <p:cNvSpPr/>
          <p:nvPr/>
        </p:nvSpPr>
        <p:spPr>
          <a:xfrm>
            <a:off x="511162" y="4753074"/>
            <a:ext cx="88550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93452" y="4702274"/>
            <a:ext cx="1074105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“Keep this secret.”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5753795"/>
            <a:ext cx="11277318" cy="647005"/>
          </a:xfrm>
          <a:prstGeom prst="rect">
            <a:avLst/>
          </a:prstGeom>
          <a:solidFill>
            <a:srgbClr val="C23E2C"/>
          </a:solidFill>
          <a:ln/>
        </p:spPr>
      </p:sp>
      <p:sp>
        <p:nvSpPr>
          <p:cNvPr id="17" name="Text 15"/>
          <p:cNvSpPr/>
          <p:nvPr/>
        </p:nvSpPr>
        <p:spPr>
          <a:xfrm>
            <a:off x="736582" y="5931595"/>
            <a:ext cx="1099792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Pressure is meant to stop you from checking the story.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189" y="2326283"/>
            <a:ext cx="11277318" cy="12700"/>
          </a:xfrm>
          <a:prstGeom prst="rect">
            <a:avLst/>
          </a:prstGeom>
          <a:solidFill>
            <a:srgbClr val="22282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189" y="3404791"/>
            <a:ext cx="11277318" cy="12700"/>
          </a:xfrm>
          <a:prstGeom prst="rect">
            <a:avLst/>
          </a:prstGeom>
          <a:solidFill>
            <a:srgbClr val="22282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189" y="4484985"/>
            <a:ext cx="11277318" cy="12700"/>
          </a:xfrm>
          <a:prstGeom prst="rect">
            <a:avLst/>
          </a:prstGeom>
          <a:solidFill>
            <a:srgbClr val="22282A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9457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VERIFY FIRST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2064445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CHECK THE SENDER, NOT THE LOGO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189" y="2591495"/>
            <a:ext cx="647684" cy="647700"/>
          </a:xfrm>
          <a:prstGeom prst="ellipse">
            <a:avLst/>
          </a:prstGeom>
          <a:solidFill>
            <a:srgbClr val="1E6F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10" y="2753420"/>
            <a:ext cx="323842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3353495"/>
            <a:ext cx="259073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Inspect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189" y="3788470"/>
            <a:ext cx="25907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Check the full email address or phone number.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352716" y="2591495"/>
            <a:ext cx="647684" cy="647700"/>
          </a:xfrm>
          <a:prstGeom prst="ellipse">
            <a:avLst/>
          </a:prstGeom>
          <a:solidFill>
            <a:srgbClr val="1E6FB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637" y="2753420"/>
            <a:ext cx="323842" cy="323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2716" y="3353495"/>
            <a:ext cx="259073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Preview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352716" y="3788470"/>
            <a:ext cx="25907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Hover over links before clicking.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48244" y="2591495"/>
            <a:ext cx="647684" cy="647700"/>
          </a:xfrm>
          <a:prstGeom prst="ellipse">
            <a:avLst/>
          </a:prstGeom>
          <a:solidFill>
            <a:srgbClr val="1E6FB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165" y="2753420"/>
            <a:ext cx="323842" cy="3238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8244" y="3353495"/>
            <a:ext cx="259073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Notice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248244" y="3788470"/>
            <a:ext cx="2590735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Watch for look-alike domains and shortened URLs.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9143771" y="2591495"/>
            <a:ext cx="647684" cy="647700"/>
          </a:xfrm>
          <a:prstGeom prst="ellipse">
            <a:avLst/>
          </a:prstGeom>
          <a:solidFill>
            <a:srgbClr val="1E6FB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692" y="2753420"/>
            <a:ext cx="323842" cy="3238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3771" y="3353495"/>
            <a:ext cx="259073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Confirm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9143771" y="3788470"/>
            <a:ext cx="25907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Use the organization’s official app or website.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457189" y="4840486"/>
            <a:ext cx="117345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3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Perfect spelling no longer proves a message is real.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1923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PAYMENT WARNING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57351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NEVER LET A STRANGER CHOOSE YOUR PAYMENT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189" y="1584325"/>
            <a:ext cx="573519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350"/>
              </a:spcAft>
              <a:buNone/>
            </a:pPr>
            <a:r>
              <a:rPr lang="en-US" sz="20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Crypto, gift cards, wire transfers, cash, and payment apps can be hard to reverse.</a:t>
            </a:r>
            <a:endParaRPr lang="en-US" sz="2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 demand for one specific method is a major warning sign.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3311525"/>
            <a:ext cx="5735196" cy="698500"/>
          </a:xfrm>
          <a:prstGeom prst="rect">
            <a:avLst/>
          </a:prstGeom>
          <a:solidFill>
            <a:srgbClr val="C23E2C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3514725"/>
            <a:ext cx="517641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Stop when the method feels forced.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F4F0E6"/>
          </a:solidFill>
          <a:ln w="19050">
            <a:solidFill>
              <a:srgbClr val="2228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THE STORY CHANGES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COMMON SCAM STORIES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189" y="1254125"/>
            <a:ext cx="2590735" cy="1817886"/>
          </a:xfrm>
          <a:prstGeom prst="roundRect">
            <a:avLst>
              <a:gd name="adj" fmla="val 1781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1182" y="1508125"/>
            <a:ext cx="208274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Account alert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1182" y="1943100"/>
            <a:ext cx="233674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“Verify your login.”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52716" y="1254125"/>
            <a:ext cx="2590735" cy="1817886"/>
          </a:xfrm>
          <a:prstGeom prst="roundRect">
            <a:avLst>
              <a:gd name="adj" fmla="val 1781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6710" y="1508125"/>
            <a:ext cx="208274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Delivery problem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06710" y="1943100"/>
            <a:ext cx="233674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“Pay a small fee.”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48244" y="1254125"/>
            <a:ext cx="2590735" cy="1817886"/>
          </a:xfrm>
          <a:prstGeom prst="roundRect">
            <a:avLst>
              <a:gd name="adj" fmla="val 1781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2237" y="1508125"/>
            <a:ext cx="208274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Tech support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02237" y="1943100"/>
            <a:ext cx="208274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“Your device is infected.”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3771" y="1254125"/>
            <a:ext cx="2590735" cy="1817886"/>
          </a:xfrm>
          <a:prstGeom prst="roundRect">
            <a:avLst>
              <a:gd name="adj" fmla="val 1781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7765" y="1508125"/>
            <a:ext cx="208274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Romance or investment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97765" y="2235200"/>
            <a:ext cx="208274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“Trust me with your money.”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189" y="3249811"/>
            <a:ext cx="11277318" cy="647005"/>
          </a:xfrm>
          <a:prstGeom prst="rect">
            <a:avLst/>
          </a:prstGeom>
          <a:solidFill>
            <a:srgbClr val="F6C9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6582" y="3427611"/>
            <a:ext cx="1099792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The story changes.</a:t>
            </a:r>
            <a:r>
              <a:rPr lang="en-US" sz="17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The pressure pattern stays.</a:t>
            </a:r>
            <a:endParaRPr lang="en-US" sz="17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54016"/>
            <a:ext cx="1747992" cy="990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YOUR THREE-STEP RESET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11277318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800" kern="100" spc="-72" dirty="0">
                <a:solidFill>
                  <a:srgbClr val="22282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STOP. </a:t>
            </a:r>
            <a:r>
              <a:rPr lang="en-US" sz="4800" kern="100" spc="-72" dirty="0">
                <a:solidFill>
                  <a:srgbClr val="1E6FB8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CHECK.</a:t>
            </a:r>
            <a:r>
              <a:rPr lang="en-US" sz="4800" kern="100" spc="-72" dirty="0">
                <a:solidFill>
                  <a:srgbClr val="22282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 CHOOSE.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1484709"/>
            <a:ext cx="1173450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 ten-second pause can break the scammer’s rhythm.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2005409"/>
            <a:ext cx="3555911" cy="4395391"/>
          </a:xfrm>
          <a:prstGeom prst="roundRect">
            <a:avLst>
              <a:gd name="adj" fmla="val 911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82" y="2259409"/>
            <a:ext cx="84710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E6FB8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1182" y="2561630"/>
            <a:ext cx="3047924" cy="1905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710160"/>
            <a:ext cx="304792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Stop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1182" y="3145135"/>
            <a:ext cx="3301917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Don’t click, reply, or pay.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17892" y="2005409"/>
            <a:ext cx="3555911" cy="4395391"/>
          </a:xfrm>
          <a:prstGeom prst="roundRect">
            <a:avLst>
              <a:gd name="adj" fmla="val 911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1886" y="2259409"/>
            <a:ext cx="87687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E6FB8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1886" y="2561630"/>
            <a:ext cx="3047924" cy="1905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1886" y="2710160"/>
            <a:ext cx="304792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Check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1886" y="3145135"/>
            <a:ext cx="3047924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Verify through a separate official channel.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78595" y="2005409"/>
            <a:ext cx="3555911" cy="4395391"/>
          </a:xfrm>
          <a:prstGeom prst="roundRect">
            <a:avLst>
              <a:gd name="adj" fmla="val 911"/>
            </a:avLst>
          </a:prstGeom>
          <a:noFill/>
          <a:ln w="25399">
            <a:solidFill>
              <a:srgbClr val="D0C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2589" y="2259409"/>
            <a:ext cx="8810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E6FB8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432589" y="2561630"/>
            <a:ext cx="3047924" cy="1905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18" name="Text 16"/>
          <p:cNvSpPr/>
          <p:nvPr/>
        </p:nvSpPr>
        <p:spPr>
          <a:xfrm>
            <a:off x="8432589" y="2710160"/>
            <a:ext cx="3047924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Choose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32589" y="3145135"/>
            <a:ext cx="3047924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Continue only when the request makes sense.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BEFORE TROUBLE STARTS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PROTECT YOUR ACCOUNTS BEFORE TROUBLE STARTS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189" y="1254125"/>
            <a:ext cx="647684" cy="647700"/>
          </a:xfrm>
          <a:prstGeom prst="ellipse">
            <a:avLst/>
          </a:prstGeom>
          <a:solidFill>
            <a:srgbClr val="1E6F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10" y="1416050"/>
            <a:ext cx="323842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016125"/>
            <a:ext cx="259073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Use unique passwords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189" y="2743200"/>
            <a:ext cx="25907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Make each important account harder to unlock.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352716" y="1254125"/>
            <a:ext cx="647684" cy="647700"/>
          </a:xfrm>
          <a:prstGeom prst="ellipse">
            <a:avLst/>
          </a:prstGeom>
          <a:solidFill>
            <a:srgbClr val="1E6FB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637" y="1416050"/>
            <a:ext cx="323842" cy="323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2716" y="2016125"/>
            <a:ext cx="259073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Turn on MFA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352716" y="2451100"/>
            <a:ext cx="25907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Add a second proof that it is really you.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48244" y="1254125"/>
            <a:ext cx="647684" cy="647700"/>
          </a:xfrm>
          <a:prstGeom prst="ellipse">
            <a:avLst/>
          </a:prstGeom>
          <a:solidFill>
            <a:srgbClr val="1E6FB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165" y="1416050"/>
            <a:ext cx="323842" cy="3238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8244" y="2016125"/>
            <a:ext cx="259073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Keep devices updated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248244" y="2743200"/>
            <a:ext cx="25907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Install updates for devices and apps.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9143771" y="1254125"/>
            <a:ext cx="647684" cy="647700"/>
          </a:xfrm>
          <a:prstGeom prst="ellipse">
            <a:avLst/>
          </a:prstGeom>
          <a:solidFill>
            <a:srgbClr val="1E6FB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692" y="1416050"/>
            <a:ext cx="323842" cy="3238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3771" y="2016125"/>
            <a:ext cx="259073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Review alerts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9143771" y="2451100"/>
            <a:ext cx="25907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Notice unusual bank and account activity early.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57189" y="5753795"/>
            <a:ext cx="11277318" cy="647005"/>
          </a:xfrm>
          <a:prstGeom prst="rect">
            <a:avLst/>
          </a:prstGeom>
          <a:solidFill>
            <a:srgbClr val="F6C945"/>
          </a:solidFill>
          <a:ln/>
        </p:spPr>
      </p:sp>
      <p:sp>
        <p:nvSpPr>
          <p:cNvPr id="21" name="Text 15"/>
          <p:cNvSpPr/>
          <p:nvPr/>
        </p:nvSpPr>
        <p:spPr>
          <a:xfrm>
            <a:off x="736582" y="5931595"/>
            <a:ext cx="1099792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Make the safe choice the easy choice.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1923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IF SOMETHING HAPPENED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573519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IF YOU CLICKED OR PAID, ACT FAST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189" y="1584325"/>
            <a:ext cx="377816" cy="377825"/>
          </a:xfrm>
          <a:prstGeom prst="ellipse">
            <a:avLst/>
          </a:prstGeom>
          <a:solidFill>
            <a:srgbClr val="1E6FB8"/>
          </a:solidFill>
          <a:ln/>
        </p:spPr>
      </p:sp>
      <p:sp>
        <p:nvSpPr>
          <p:cNvPr id="5" name="Text 3"/>
          <p:cNvSpPr/>
          <p:nvPr/>
        </p:nvSpPr>
        <p:spPr>
          <a:xfrm>
            <a:off x="527334" y="1665288"/>
            <a:ext cx="84710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400" y="1614488"/>
            <a:ext cx="520498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Stop contact with the scammer.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189" y="2419350"/>
            <a:ext cx="377816" cy="377825"/>
          </a:xfrm>
          <a:prstGeom prst="ellipse">
            <a:avLst/>
          </a:prstGeom>
          <a:solidFill>
            <a:srgbClr val="1E6FB8"/>
          </a:solidFill>
          <a:ln/>
        </p:spPr>
      </p:sp>
      <p:sp>
        <p:nvSpPr>
          <p:cNvPr id="8" name="Text 6"/>
          <p:cNvSpPr/>
          <p:nvPr/>
        </p:nvSpPr>
        <p:spPr>
          <a:xfrm>
            <a:off x="512452" y="2500313"/>
            <a:ext cx="87687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400" y="2449513"/>
            <a:ext cx="520498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Change exposed passwords and enable MFA.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189" y="3490913"/>
            <a:ext cx="379403" cy="379413"/>
          </a:xfrm>
          <a:prstGeom prst="ellipse">
            <a:avLst/>
          </a:prstGeom>
          <a:solidFill>
            <a:srgbClr val="1E6FB8"/>
          </a:solidFill>
          <a:ln/>
        </p:spPr>
      </p:sp>
      <p:sp>
        <p:nvSpPr>
          <p:cNvPr id="11" name="Text 9"/>
          <p:cNvSpPr/>
          <p:nvPr/>
        </p:nvSpPr>
        <p:spPr>
          <a:xfrm>
            <a:off x="511162" y="3572669"/>
            <a:ext cx="8810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8988" y="3521869"/>
            <a:ext cx="520339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Call your bank or payment provider using an official number.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189" y="4563269"/>
            <a:ext cx="383868" cy="383877"/>
          </a:xfrm>
          <a:prstGeom prst="ellipse">
            <a:avLst/>
          </a:prstGeom>
          <a:solidFill>
            <a:srgbClr val="1E6FB8"/>
          </a:solidFill>
          <a:ln/>
        </p:spPr>
      </p:sp>
      <p:sp>
        <p:nvSpPr>
          <p:cNvPr id="14" name="Text 12"/>
          <p:cNvSpPr/>
          <p:nvPr/>
        </p:nvSpPr>
        <p:spPr>
          <a:xfrm>
            <a:off x="511162" y="4647208"/>
            <a:ext cx="88550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93452" y="4596408"/>
            <a:ext cx="519893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Save messages, receipts, and account details.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189" y="5358408"/>
            <a:ext cx="619238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Fast reporting can limit further damage.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F4F0E6"/>
          </a:solidFill>
          <a:ln w="19050">
            <a:solidFill>
              <a:srgbClr val="22282A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12" y="19050"/>
            <a:ext cx="5046933" cy="68199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57189" y="2184400"/>
            <a:ext cx="5735196" cy="1270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189" y="3255963"/>
            <a:ext cx="5735196" cy="12700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189" y="4328319"/>
            <a:ext cx="5735196" cy="12700"/>
          </a:xfrm>
          <a:prstGeom prst="rect">
            <a:avLst/>
          </a:prstGeom>
          <a:solidFill>
            <a:srgbClr val="1E6FB8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WHEN A MESSAGE FEELS OFF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b="1" kern="100" spc="-32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STOP → CHECK → CHOOSE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1311275"/>
            <a:ext cx="1127731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Use a three-step pause before you click, reply, or pay.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1746250"/>
            <a:ext cx="3017464" cy="1858466"/>
          </a:xfrm>
          <a:prstGeom prst="rect">
            <a:avLst/>
          </a:prstGeom>
          <a:solidFill>
            <a:srgbClr val="1E6FB8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1974850"/>
            <a:ext cx="25602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FFFFFF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STOP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783" y="2501900"/>
            <a:ext cx="256027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Pause. Do not click links, open files, or reply in the moment.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79445" y="2469753"/>
            <a:ext cx="50292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87066" y="1746250"/>
            <a:ext cx="3017464" cy="1858466"/>
          </a:xfrm>
          <a:prstGeom prst="rect">
            <a:avLst/>
          </a:prstGeom>
          <a:solidFill>
            <a:srgbClr val="F6C945"/>
          </a:solidFill>
          <a:ln/>
        </p:spPr>
      </p:sp>
      <p:sp>
        <p:nvSpPr>
          <p:cNvPr id="10" name="Text 8"/>
          <p:cNvSpPr/>
          <p:nvPr/>
        </p:nvSpPr>
        <p:spPr>
          <a:xfrm>
            <a:off x="4815660" y="1974850"/>
            <a:ext cx="25602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CHECK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15660" y="2501900"/>
            <a:ext cx="256027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Verify the sender and request through a trusted route you find yourself.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09223" y="2469753"/>
            <a:ext cx="502927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716943" y="1746250"/>
            <a:ext cx="3017464" cy="1858466"/>
          </a:xfrm>
          <a:prstGeom prst="rect">
            <a:avLst/>
          </a:prstGeom>
          <a:solidFill>
            <a:srgbClr val="F4F0E6"/>
          </a:solidFill>
          <a:ln/>
        </p:spPr>
      </p:sp>
      <p:sp>
        <p:nvSpPr>
          <p:cNvPr id="14" name="Text 12"/>
          <p:cNvSpPr/>
          <p:nvPr/>
        </p:nvSpPr>
        <p:spPr>
          <a:xfrm>
            <a:off x="8945537" y="1974850"/>
            <a:ext cx="25602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CHOOSE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45537" y="2501900"/>
            <a:ext cx="256027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Take the safe next step: ignore, report, or contact the real organization.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189" y="3782516"/>
            <a:ext cx="117345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3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 pause breaks the pressure and gives you back the decision.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100" dirty="0">
                <a:solidFill>
                  <a:srgbClr val="22282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THE PRESSURE CYCLE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189" y="727075"/>
            <a:ext cx="11277318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b="1" kern="100" spc="-32" dirty="0">
                <a:solidFill>
                  <a:srgbClr val="22282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HOW SCAM PRESSURE MOVES YOU TOWARD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1311275"/>
            <a:ext cx="1127731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22282A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Each step narrows your choices. Interrupt the cycle before the demand becomes a decision.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1746250"/>
            <a:ext cx="117345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3" dirty="0">
                <a:solidFill>
                  <a:srgbClr val="22282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Conceptual awareness graphic · pressure rises across the sequence; this is not measured data.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146895"/>
            <a:ext cx="11277318" cy="23812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189" y="4705945"/>
            <a:ext cx="11277318" cy="831155"/>
          </a:xfrm>
          <a:prstGeom prst="roundRect">
            <a:avLst>
              <a:gd name="adj" fmla="val 3896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83" y="4996458"/>
            <a:ext cx="269868" cy="215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8846" y="4975820"/>
            <a:ext cx="10969351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Bold" pitchFamily="34" charset="0"/>
                <a:ea typeface="Atkinson Hyperlegible Bold" pitchFamily="34" charset="-122"/>
                <a:cs typeface="Atkinson Hyperlegible Bold" pitchFamily="34" charset="-120"/>
              </a:rPr>
              <a:t>Interrupt it:</a:t>
            </a:r>
            <a:r>
              <a:rPr lang="en-US" sz="1700" dirty="0">
                <a:solidFill>
                  <a:srgbClr val="0000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 stop, verify independently, and choose your next step without the sender directing you.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98762" y="2668072"/>
            <a:ext cx="8855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11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967</Words>
  <Application>Microsoft Office PowerPoint</Application>
  <PresentationFormat>Widescreen</PresentationFormat>
  <Paragraphs>141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Atkinson Hyperlegible</vt:lpstr>
      <vt:lpstr>Times New Roman</vt:lpstr>
      <vt:lpstr>Atkinson Hyperlegible Bold</vt:lpstr>
      <vt:lpstr>Calibri</vt:lpstr>
      <vt:lpstr>Archivo Black</vt:lpstr>
      <vt:lpstr>IBM Plex Mono SemiBold</vt:lpstr>
      <vt:lpstr>Archivo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phanindhra chari</dc:creator>
  <cp:lastModifiedBy>phanindhra chari</cp:lastModifiedBy>
  <cp:revision>3</cp:revision>
  <dcterms:created xsi:type="dcterms:W3CDTF">2026-10-02T16:51:32Z</dcterms:created>
  <dcterms:modified xsi:type="dcterms:W3CDTF">2026-10-02T17:32:58Z</dcterms:modified>
</cp:coreProperties>
</file>